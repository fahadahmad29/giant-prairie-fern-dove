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594360" y="731520"/>
            <a:ext cx="109728" cy="5394960"/>
          </a:xfrm>
          <a:prstGeom prst="rect">
            <a:avLst/>
          </a:prstGeom>
          <a:solidFill>
            <a:srgbClr val="40C9FF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143000" y="733093"/>
            <a:ext cx="6400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 dirty="0">
                <a:solidFill>
                  <a:srgbClr val="F5F8FC"/>
                </a:solidFill>
                <a:latin typeface="Aptos"/>
              </a:rPr>
              <a:t>MULTIPLE DISEASE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1188720"/>
            <a:ext cx="67665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500" b="1" dirty="0">
                <a:solidFill>
                  <a:srgbClr val="40C9FF"/>
                </a:solidFill>
                <a:latin typeface="Aptos"/>
              </a:rPr>
              <a:t>PREDICTION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1858297"/>
            <a:ext cx="5943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dirty="0">
                <a:solidFill>
                  <a:srgbClr val="F5F8FC"/>
                </a:solidFill>
                <a:latin typeface="Aptos"/>
              </a:rPr>
              <a:t>A </a:t>
            </a:r>
            <a:r>
              <a:rPr sz="1700" b="0" dirty="0" err="1">
                <a:solidFill>
                  <a:srgbClr val="F5F8FC"/>
                </a:solidFill>
                <a:latin typeface="Aptos"/>
              </a:rPr>
              <a:t>Streamlit</a:t>
            </a:r>
            <a:r>
              <a:rPr sz="1700" b="0" dirty="0">
                <a:solidFill>
                  <a:srgbClr val="F5F8FC"/>
                </a:solidFill>
                <a:latin typeface="Aptos"/>
              </a:rPr>
              <a:t>-based machine-learning decision-support application for three disease prediction modules.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20200" y="258097"/>
            <a:ext cx="1828800" cy="685800"/>
          </a:xfrm>
          <a:prstGeom prst="roundRect">
            <a:avLst/>
          </a:prstGeom>
          <a:solidFill>
            <a:srgbClr val="192A46"/>
          </a:solidFill>
          <a:ln>
            <a:solidFill>
              <a:srgbClr val="4CD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329927" y="331249"/>
            <a:ext cx="1609344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USER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71560" y="1355377"/>
            <a:ext cx="2926080" cy="822960"/>
          </a:xfrm>
          <a:prstGeom prst="roundRect">
            <a:avLst/>
          </a:prstGeom>
          <a:solidFill>
            <a:srgbClr val="192A46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781288" y="1428529"/>
            <a:ext cx="2706624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HEALTH
INPUTS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0160" y="2772697"/>
            <a:ext cx="2468880" cy="822960"/>
          </a:xfrm>
          <a:prstGeom prst="roundRect">
            <a:avLst/>
          </a:prstGeom>
          <a:solidFill>
            <a:srgbClr val="192A46"/>
          </a:solidFill>
          <a:ln>
            <a:solidFill>
              <a:srgbClr val="A1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09887" y="2845849"/>
            <a:ext cx="2249424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ML MODEL
ARTIFACT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28760" y="4098577"/>
            <a:ext cx="2011680" cy="685800"/>
          </a:xfrm>
          <a:prstGeom prst="roundRect">
            <a:avLst/>
          </a:prstGeom>
          <a:solidFill>
            <a:srgbClr val="192A46"/>
          </a:solidFill>
          <a:ln>
            <a:solidFill>
              <a:srgbClr val="FF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38487" y="4171729"/>
            <a:ext cx="1792224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PREDICTION
RESULT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0134600" y="943897"/>
            <a:ext cx="0" cy="411480"/>
          </a:xfrm>
          <a:prstGeom prst="line">
            <a:avLst/>
          </a:prstGeom>
          <a:ln w="31750">
            <a:solidFill>
              <a:srgbClr val="4CDC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134600" y="2178337"/>
            <a:ext cx="0" cy="594360"/>
          </a:xfrm>
          <a:prstGeom prst="line">
            <a:avLst/>
          </a:prstGeom>
          <a:ln w="31750">
            <a:solidFill>
              <a:srgbClr val="40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10134600" y="3595657"/>
            <a:ext cx="0" cy="502920"/>
          </a:xfrm>
          <a:prstGeom prst="line">
            <a:avLst/>
          </a:prstGeom>
          <a:ln w="31750">
            <a:solidFill>
              <a:srgbClr val="A1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485900" y="2480089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dirty="0">
                <a:solidFill>
                  <a:srgbClr val="4CDC9A"/>
                </a:solidFill>
                <a:latin typeface="Aptos"/>
              </a:rPr>
              <a:t>Diabetes  •  Heart Disease  •  Parkinson’s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D5B3C66-B8C2-E069-53BE-BCAC3EAA9449}"/>
              </a:ext>
            </a:extLst>
          </p:cNvPr>
          <p:cNvSpPr txBox="1"/>
          <p:nvPr/>
        </p:nvSpPr>
        <p:spPr>
          <a:xfrm>
            <a:off x="1384554" y="2954337"/>
            <a:ext cx="60579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>
                <a:solidFill>
                  <a:schemeClr val="bg1"/>
                </a:solidFill>
              </a:rPr>
              <a:t>NAME- Shorya Agarwal</a:t>
            </a:r>
          </a:p>
          <a:p>
            <a:r>
              <a:rPr lang="en-IN" sz="2800">
                <a:solidFill>
                  <a:schemeClr val="bg1"/>
                </a:solidFill>
              </a:rPr>
              <a:t>ENROLL NO-TCA2568564</a:t>
            </a:r>
            <a:endParaRPr lang="en-IN" sz="2800" dirty="0">
              <a:solidFill>
                <a:schemeClr val="bg1"/>
              </a:solidFill>
            </a:endParaRPr>
          </a:p>
          <a:p>
            <a:r>
              <a:rPr lang="en-IN" sz="2800" dirty="0">
                <a:solidFill>
                  <a:schemeClr val="bg1"/>
                </a:solidFill>
              </a:rPr>
              <a:t>PROGRAM-BCA</a:t>
            </a:r>
          </a:p>
          <a:p>
            <a:r>
              <a:rPr lang="en-IN" sz="2800" dirty="0">
                <a:solidFill>
                  <a:schemeClr val="bg1"/>
                </a:solidFill>
              </a:rPr>
              <a:t>SECTION-G</a:t>
            </a:r>
          </a:p>
        </p:txBody>
      </p:sp>
      <p:pic>
        <p:nvPicPr>
          <p:cNvPr id="26" name="Picture 25" descr="TMU - Faculty of Engineering and Computing Sciences | Moradabad">
            <a:extLst>
              <a:ext uri="{FF2B5EF4-FFF2-40B4-BE49-F238E27FC236}">
                <a16:creationId xmlns:a16="http://schemas.microsoft.com/office/drawing/2014/main" id="{AEC4B434-C4BF-8BA2-30E2-6313CEA774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4387" y="4786245"/>
            <a:ext cx="983226" cy="98322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D583B00B-FB56-09D6-5080-C37A6B59637D}"/>
              </a:ext>
            </a:extLst>
          </p:cNvPr>
          <p:cNvSpPr txBox="1"/>
          <p:nvPr/>
        </p:nvSpPr>
        <p:spPr>
          <a:xfrm>
            <a:off x="4262285" y="5755575"/>
            <a:ext cx="39820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TEERTHANKER MAHAVEER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1. Problem Statement &amp; Motivation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Why a unified prediction interface is useful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34440"/>
            <a:ext cx="5303520" cy="4526280"/>
          </a:xfrm>
          <a:prstGeom prst="roundRect">
            <a:avLst/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2194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0C9FF"/>
                </a:solidFill>
                <a:latin typeface="Aptos"/>
              </a:rP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965960"/>
            <a:ext cx="4526280" cy="33624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rPr sz="2000" dirty="0"/>
              <a:t>• Health-risk assessment often involves different disease-specific indicators.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rPr sz="2000" dirty="0"/>
              <a:t>• A user may need separate workflows for different prediction tasks.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rPr sz="2000" dirty="0"/>
              <a:t>• Technical ML models are difficult to consume directly without a simple interface.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rPr sz="2000" dirty="0"/>
              <a:t>• A unified interface can reduce interaction complexity and present model output clearly</a:t>
            </a:r>
            <a:r>
              <a:rPr dirty="0"/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234440"/>
            <a:ext cx="5394960" cy="4526280"/>
          </a:xfrm>
          <a:prstGeom prst="roundRect">
            <a:avLst/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46520" y="1508760"/>
            <a:ext cx="2468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CDC9A"/>
                </a:solidFill>
                <a:latin typeface="Aptos"/>
              </a:rPr>
              <a:t>PROJECT RESPONSE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965960"/>
            <a:ext cx="4572000" cy="3426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rPr sz="2000" dirty="0"/>
              <a:t>• Single </a:t>
            </a:r>
            <a:r>
              <a:rPr sz="2000" dirty="0" err="1"/>
              <a:t>Streamlit</a:t>
            </a:r>
            <a:r>
              <a:rPr sz="2000" dirty="0"/>
              <a:t> application with sidebar navigation.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rPr sz="2000" dirty="0"/>
              <a:t>• Three independent prediction modules.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rPr sz="2000" dirty="0"/>
              <a:t>• Structured input forms for each disease.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rPr sz="2000" dirty="0"/>
              <a:t>• Saved ML model artifacts loaded at application startup.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rPr sz="2000" dirty="0"/>
              <a:t>• Immediate prediction result after the user submits the required values.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MULTIPLE DISEASE PREDICTION SYSTEM  •  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6510528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BED3"/>
                </a:solidFill>
                <a:latin typeface="Aptos"/>
              </a:rPr>
              <a:t>ML • Streamlit • Decision Support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2. Aim, Objectives &amp;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325880"/>
            <a:ext cx="2606040" cy="1051560"/>
          </a:xfrm>
          <a:prstGeom prst="roundRect">
            <a:avLst/>
          </a:prstGeom>
          <a:solidFill>
            <a:srgbClr val="142037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49808" y="1463039"/>
            <a:ext cx="23865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40C9FF"/>
                </a:solidFill>
                <a:latin typeface="Aptos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901952"/>
            <a:ext cx="23865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EBED3"/>
                </a:solidFill>
                <a:latin typeface="Aptos"/>
              </a:rPr>
              <a:t>Unified interface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325880"/>
            <a:ext cx="2606040" cy="1051560"/>
          </a:xfrm>
          <a:prstGeom prst="roundRect">
            <a:avLst/>
          </a:prstGeom>
          <a:solidFill>
            <a:srgbClr val="142037"/>
          </a:solidFill>
          <a:ln>
            <a:solidFill>
              <a:srgbClr val="4CD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84448" y="1463039"/>
            <a:ext cx="23865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4CDC9A"/>
                </a:solidFill>
                <a:latin typeface="Apto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4448" y="1901952"/>
            <a:ext cx="23865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EBED3"/>
                </a:solidFill>
                <a:latin typeface="Aptos"/>
              </a:rPr>
              <a:t>Three disease modules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25880"/>
            <a:ext cx="2606040" cy="1051560"/>
          </a:xfrm>
          <a:prstGeom prst="roundRect">
            <a:avLst/>
          </a:prstGeom>
          <a:solidFill>
            <a:srgbClr val="142037"/>
          </a:solidFill>
          <a:ln>
            <a:solidFill>
              <a:srgbClr val="A1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19088" y="1463039"/>
            <a:ext cx="238658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A17BFF"/>
                </a:solidFill>
                <a:latin typeface="Aptos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19088" y="1901952"/>
            <a:ext cx="238658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EBED3"/>
                </a:solidFill>
                <a:latin typeface="Aptos"/>
              </a:rPr>
              <a:t>Model-based inference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0" y="1325880"/>
            <a:ext cx="2423160" cy="1051560"/>
          </a:xfrm>
          <a:prstGeom prst="roundRect">
            <a:avLst/>
          </a:prstGeom>
          <a:solidFill>
            <a:srgbClr val="142037"/>
          </a:solidFill>
          <a:ln>
            <a:solidFill>
              <a:srgbClr val="FF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253728" y="1463039"/>
            <a:ext cx="220370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B24C"/>
                </a:solidFill>
                <a:latin typeface="Aptos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53728" y="1901952"/>
            <a:ext cx="220370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EBED3"/>
                </a:solidFill>
                <a:latin typeface="Aptos"/>
              </a:rPr>
              <a:t>Simple result display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743200"/>
            <a:ext cx="5303520" cy="2606040"/>
          </a:xfrm>
          <a:prstGeom prst="roundRect">
            <a:avLst/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99923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0C9FF"/>
                </a:solidFill>
                <a:latin typeface="Aptos"/>
              </a:rPr>
              <a:t>OBJECTIVES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4290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Provide disease-specific input forms.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Convert user-entered values to numeric form before inference.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Connect each form to its corresponding saved model.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Display a direct classification-style diagnosis message.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43200"/>
            <a:ext cx="5303520" cy="2606040"/>
          </a:xfrm>
          <a:prstGeom prst="roundRect">
            <a:avLst/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2999232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CDC9A"/>
                </a:solidFill>
                <a:latin typeface="Aptos"/>
              </a:rPr>
              <a:t>CURRENT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4290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Diabetes prediction: 8 input features.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Heart disease prediction: 13 input features.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Parkinson’s prediction: 22 voice-related numerical features.</a:t>
            </a:r>
          </a:p>
          <a:p>
            <a:pPr>
              <a:spcAft>
                <a:spcPts val="5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Inference is performed using the loaded model's predict() method.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MULTIPLE DISEASE PREDICTION SYSTEM  • 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6510528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BED3"/>
                </a:solidFill>
                <a:latin typeface="Aptos"/>
              </a:rPr>
              <a:t>ML • Streamlit • Decision Support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3. Existing Approach vs Proposed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Positioning of the project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25880"/>
            <a:ext cx="5394960" cy="4480560"/>
          </a:xfrm>
          <a:prstGeom prst="roundRect">
            <a:avLst/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72768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B24C"/>
                </a:solidFill>
                <a:latin typeface="Aptos"/>
              </a:rPr>
              <a:t>TRADITIONAL / FRAGMENTED WORKFLOW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34640"/>
            <a:ext cx="1417320" cy="685800"/>
          </a:xfrm>
          <a:prstGeom prst="roundRect">
            <a:avLst/>
          </a:prstGeom>
          <a:solidFill>
            <a:srgbClr val="192A46"/>
          </a:solidFill>
          <a:ln>
            <a:solidFill>
              <a:srgbClr val="FF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8407" y="2907792"/>
            <a:ext cx="1197864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USER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28800"/>
            <a:ext cx="1600200" cy="685800"/>
          </a:xfrm>
          <a:prstGeom prst="roundRect">
            <a:avLst/>
          </a:prstGeom>
          <a:solidFill>
            <a:srgbClr val="192A46"/>
          </a:solidFill>
          <a:ln>
            <a:solidFill>
              <a:srgbClr val="FF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852928" y="1901952"/>
            <a:ext cx="1380744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DISEASE A
TOOL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0" y="2926080"/>
            <a:ext cx="1600200" cy="685800"/>
          </a:xfrm>
          <a:prstGeom prst="roundRect">
            <a:avLst/>
          </a:prstGeom>
          <a:solidFill>
            <a:srgbClr val="192A46"/>
          </a:solidFill>
          <a:ln>
            <a:solidFill>
              <a:srgbClr val="FF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852928" y="2999232"/>
            <a:ext cx="1380744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DISEASE B
TOOL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0" y="4023360"/>
            <a:ext cx="1600200" cy="685800"/>
          </a:xfrm>
          <a:prstGeom prst="roundRect">
            <a:avLst/>
          </a:prstGeom>
          <a:solidFill>
            <a:srgbClr val="192A46"/>
          </a:solidFill>
          <a:ln>
            <a:solidFill>
              <a:srgbClr val="FF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52928" y="4096512"/>
            <a:ext cx="1380744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DISEASE C
TOOL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286000" y="2176272"/>
            <a:ext cx="457200" cy="1005840"/>
          </a:xfrm>
          <a:prstGeom prst="line">
            <a:avLst/>
          </a:prstGeom>
          <a:ln w="31750">
            <a:solidFill>
              <a:srgbClr val="FFB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286000" y="3182112"/>
            <a:ext cx="457200" cy="91440"/>
          </a:xfrm>
          <a:prstGeom prst="line">
            <a:avLst/>
          </a:prstGeom>
          <a:ln w="31750">
            <a:solidFill>
              <a:srgbClr val="FFB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3182112"/>
            <a:ext cx="457200" cy="1188720"/>
          </a:xfrm>
          <a:prstGeom prst="line">
            <a:avLst/>
          </a:prstGeom>
          <a:ln w="31750">
            <a:solidFill>
              <a:srgbClr val="FFB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68680" y="5074920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Different interfaces • repeated navigation • inconsistent interaction patterns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325880"/>
            <a:ext cx="5394960" cy="4480560"/>
          </a:xfrm>
          <a:prstGeom prst="roundRect">
            <a:avLst/>
          </a:prstGeom>
          <a:solidFill>
            <a:srgbClr val="142037"/>
          </a:solidFill>
          <a:ln>
            <a:solidFill>
              <a:srgbClr val="1420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1572768"/>
            <a:ext cx="4389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CDC9A"/>
                </a:solidFill>
                <a:latin typeface="Aptos"/>
              </a:rPr>
              <a:t>PROPOSED MULTIPLE DISEASE SYSTEM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92240" y="1874519"/>
            <a:ext cx="1508760" cy="640080"/>
          </a:xfrm>
          <a:prstGeom prst="roundRect">
            <a:avLst/>
          </a:prstGeom>
          <a:solidFill>
            <a:srgbClr val="192A46"/>
          </a:solidFill>
          <a:ln>
            <a:solidFill>
              <a:srgbClr val="4CD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01968" y="1947672"/>
            <a:ext cx="1289304" cy="493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USER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8200" y="1874519"/>
            <a:ext cx="2103120" cy="640080"/>
          </a:xfrm>
          <a:prstGeom prst="roundRect">
            <a:avLst/>
          </a:prstGeom>
          <a:solidFill>
            <a:srgbClr val="192A46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567928" y="1947672"/>
            <a:ext cx="1883663" cy="493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STREAMLIT
INTERFACE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246120"/>
            <a:ext cx="1417320" cy="640080"/>
          </a:xfrm>
          <a:prstGeom prst="roundRect">
            <a:avLst/>
          </a:prstGeom>
          <a:solidFill>
            <a:srgbClr val="192A46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10528" y="3319272"/>
            <a:ext cx="1197864" cy="493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DIABETES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3879" y="3246120"/>
            <a:ext cx="1417320" cy="640080"/>
          </a:xfrm>
          <a:prstGeom prst="roundRect">
            <a:avLst/>
          </a:prstGeom>
          <a:solidFill>
            <a:srgbClr val="192A46"/>
          </a:solidFill>
          <a:ln>
            <a:solidFill>
              <a:srgbClr val="FF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93607" y="3319272"/>
            <a:ext cx="1197864" cy="493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HEART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66960" y="3246120"/>
            <a:ext cx="1325880" cy="640080"/>
          </a:xfrm>
          <a:prstGeom prst="roundRect">
            <a:avLst/>
          </a:prstGeom>
          <a:solidFill>
            <a:srgbClr val="192A46"/>
          </a:solidFill>
          <a:ln>
            <a:solidFill>
              <a:srgbClr val="A1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76688" y="3319272"/>
            <a:ext cx="1106424" cy="493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PARKINSON’S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18120" y="4617720"/>
            <a:ext cx="2011680" cy="640080"/>
          </a:xfrm>
          <a:prstGeom prst="roundRect">
            <a:avLst/>
          </a:prstGeom>
          <a:solidFill>
            <a:srgbClr val="192A46"/>
          </a:solidFill>
          <a:ln>
            <a:solidFill>
              <a:srgbClr val="FF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27848" y="4690872"/>
            <a:ext cx="1792224" cy="493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PREDICTION
RESULT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001000" y="2194560"/>
            <a:ext cx="457200" cy="0"/>
          </a:xfrm>
          <a:prstGeom prst="line">
            <a:avLst/>
          </a:prstGeom>
          <a:ln w="31750">
            <a:solidFill>
              <a:srgbClr val="4CDC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H="1">
            <a:off x="7086600" y="2514600"/>
            <a:ext cx="2423160" cy="731520"/>
          </a:xfrm>
          <a:prstGeom prst="line">
            <a:avLst/>
          </a:prstGeom>
          <a:ln w="31750">
            <a:solidFill>
              <a:srgbClr val="40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H="1">
            <a:off x="8869680" y="2514600"/>
            <a:ext cx="640080" cy="731520"/>
          </a:xfrm>
          <a:prstGeom prst="line">
            <a:avLst/>
          </a:prstGeom>
          <a:ln w="31750">
            <a:solidFill>
              <a:srgbClr val="40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9509760" y="2514600"/>
            <a:ext cx="1051560" cy="731520"/>
          </a:xfrm>
          <a:prstGeom prst="line">
            <a:avLst/>
          </a:prstGeom>
          <a:ln w="31750">
            <a:solidFill>
              <a:srgbClr val="40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132320" y="3886200"/>
            <a:ext cx="1234440" cy="731520"/>
          </a:xfrm>
          <a:prstGeom prst="line">
            <a:avLst/>
          </a:prstGeom>
          <a:ln w="31750">
            <a:solidFill>
              <a:srgbClr val="40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8823960" y="3886200"/>
            <a:ext cx="91440" cy="731520"/>
          </a:xfrm>
          <a:prstGeom prst="line">
            <a:avLst/>
          </a:prstGeom>
          <a:ln w="31750">
            <a:solidFill>
              <a:srgbClr val="FF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H="1">
            <a:off x="9281160" y="3886200"/>
            <a:ext cx="1280160" cy="731520"/>
          </a:xfrm>
          <a:prstGeom prst="line">
            <a:avLst/>
          </a:prstGeom>
          <a:ln w="31750">
            <a:solidFill>
              <a:srgbClr val="A1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MULTIPLE DISEASE PREDICTION SYSTEM  •  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12480" y="6510528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BED3"/>
                </a:solidFill>
                <a:latin typeface="Aptos"/>
              </a:rPr>
              <a:t>ML • Streamlit • Decision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4. Core Idea — One Interface, Three Predictors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F5F8FC"/>
                </a:solidFill>
                <a:latin typeface="Aptos"/>
              </a:rPr>
              <a:t>The application separates the user journey into disease-specific modules while keeping navigation and result presentation consistent.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60520" y="2011680"/>
            <a:ext cx="3886200" cy="914400"/>
          </a:xfrm>
          <a:prstGeom prst="roundRect">
            <a:avLst/>
          </a:prstGeom>
          <a:solidFill>
            <a:srgbClr val="192A46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70248" y="2084832"/>
            <a:ext cx="366674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5F8FC"/>
                </a:solidFill>
                <a:latin typeface="Aptos"/>
              </a:rPr>
              <a:t>MULTIPLE DISEASE
PREDICTION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3977639"/>
            <a:ext cx="2926080" cy="914400"/>
          </a:xfrm>
          <a:prstGeom prst="roundRect">
            <a:avLst/>
          </a:prstGeom>
          <a:solidFill>
            <a:srgbClr val="192A46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2688" y="4050791"/>
            <a:ext cx="270662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DIABETES
8 FEATURES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2286000" y="2926080"/>
            <a:ext cx="3813048" cy="1051559"/>
          </a:xfrm>
          <a:prstGeom prst="line">
            <a:avLst/>
          </a:prstGeom>
          <a:ln w="31750">
            <a:solidFill>
              <a:srgbClr val="40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343400" y="3977639"/>
            <a:ext cx="2926080" cy="914400"/>
          </a:xfrm>
          <a:prstGeom prst="roundRect">
            <a:avLst/>
          </a:prstGeom>
          <a:solidFill>
            <a:srgbClr val="192A46"/>
          </a:solidFill>
          <a:ln>
            <a:solidFill>
              <a:srgbClr val="FF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53128" y="4050791"/>
            <a:ext cx="270662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HEART DISEASE
13 FEATURES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5806440" y="2926080"/>
            <a:ext cx="292608" cy="1051559"/>
          </a:xfrm>
          <a:prstGeom prst="line">
            <a:avLst/>
          </a:prstGeom>
          <a:ln w="31750">
            <a:solidFill>
              <a:srgbClr val="FF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863840" y="3977639"/>
            <a:ext cx="2926080" cy="914400"/>
          </a:xfrm>
          <a:prstGeom prst="roundRect">
            <a:avLst/>
          </a:prstGeom>
          <a:solidFill>
            <a:srgbClr val="192A46"/>
          </a:solidFill>
          <a:ln>
            <a:solidFill>
              <a:srgbClr val="A1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973567" y="4050791"/>
            <a:ext cx="270662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PARKINSON’S
22 FEATURES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099048" y="2926080"/>
            <a:ext cx="3227832" cy="1051559"/>
          </a:xfrm>
          <a:prstGeom prst="line">
            <a:avLst/>
          </a:prstGeom>
          <a:ln w="31750">
            <a:solidFill>
              <a:srgbClr val="A1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234440" y="5623560"/>
            <a:ext cx="9692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500" b="1">
                <a:solidFill>
                  <a:srgbClr val="4CDC9A"/>
                </a:solidFill>
                <a:latin typeface="Aptos"/>
              </a:rPr>
              <a:t>Common pattern: INPUT → NUMERIC CONVERSION → MODEL.predict() → RESULT MESSAGE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MULTIPLE DISEASE PREDICTION SYSTEM  •  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6510528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BED3"/>
                </a:solidFill>
                <a:latin typeface="Aptos"/>
              </a:rPr>
              <a:t>ML • Streamlit • Decision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5. End-to-End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Detailed inference workflow based on the implemented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74519"/>
            <a:ext cx="1600200" cy="2103120"/>
          </a:xfrm>
          <a:prstGeom prst="roundRect">
            <a:avLst/>
          </a:prstGeom>
          <a:solidFill>
            <a:srgbClr val="142037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94360" y="205740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0C9FF"/>
                </a:solidFill>
                <a:latin typeface="Apto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8" y="2542032"/>
            <a:ext cx="13807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Launch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063240"/>
            <a:ext cx="1325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EBED3"/>
                </a:solidFill>
                <a:latin typeface="Aptos"/>
              </a:rPr>
              <a:t>Streamlit starts
application UI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103120" y="2926080"/>
            <a:ext cx="338328" cy="0"/>
          </a:xfrm>
          <a:prstGeom prst="line">
            <a:avLst/>
          </a:prstGeom>
          <a:ln w="31750">
            <a:solidFill>
              <a:srgbClr val="40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41448" y="1874519"/>
            <a:ext cx="1600200" cy="2103120"/>
          </a:xfrm>
          <a:prstGeom prst="roundRect">
            <a:avLst/>
          </a:prstGeom>
          <a:solidFill>
            <a:srgbClr val="142037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532888" y="205740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0C9FF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51176" y="2542032"/>
            <a:ext cx="13807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Select Module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78608" y="3063240"/>
            <a:ext cx="1325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EBED3"/>
                </a:solidFill>
                <a:latin typeface="Aptos"/>
              </a:rPr>
              <a:t>Sidebar chooses
one disease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041648" y="2926080"/>
            <a:ext cx="338328" cy="0"/>
          </a:xfrm>
          <a:prstGeom prst="line">
            <a:avLst/>
          </a:prstGeom>
          <a:ln w="31750">
            <a:solidFill>
              <a:srgbClr val="40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379976" y="1874519"/>
            <a:ext cx="1600200" cy="2103120"/>
          </a:xfrm>
          <a:prstGeom prst="roundRect">
            <a:avLst/>
          </a:prstGeom>
          <a:solidFill>
            <a:srgbClr val="142037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71416" y="205740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0C9FF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9704" y="2542032"/>
            <a:ext cx="13807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Enter Inputs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7136" y="3063240"/>
            <a:ext cx="1325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EBED3"/>
                </a:solidFill>
                <a:latin typeface="Aptos"/>
              </a:rPr>
              <a:t>Disease-specific
features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0176" y="2926080"/>
            <a:ext cx="338328" cy="0"/>
          </a:xfrm>
          <a:prstGeom prst="line">
            <a:avLst/>
          </a:prstGeom>
          <a:ln w="31750">
            <a:solidFill>
              <a:srgbClr val="40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18504" y="1874519"/>
            <a:ext cx="1600200" cy="2103120"/>
          </a:xfrm>
          <a:prstGeom prst="roundRect">
            <a:avLst/>
          </a:prstGeom>
          <a:solidFill>
            <a:srgbClr val="142037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9944" y="205740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0C9FF"/>
                </a:solidFill>
                <a:latin typeface="Aptos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8232" y="2542032"/>
            <a:ext cx="13807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Convert Data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3063240"/>
            <a:ext cx="1325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EBED3"/>
                </a:solidFill>
                <a:latin typeface="Aptos"/>
              </a:rPr>
              <a:t>Inputs cast
to float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918704" y="2926080"/>
            <a:ext cx="338328" cy="0"/>
          </a:xfrm>
          <a:prstGeom prst="line">
            <a:avLst/>
          </a:prstGeom>
          <a:ln w="31750">
            <a:solidFill>
              <a:srgbClr val="40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257032" y="1874519"/>
            <a:ext cx="1600200" cy="2103120"/>
          </a:xfrm>
          <a:prstGeom prst="roundRect">
            <a:avLst/>
          </a:prstGeom>
          <a:solidFill>
            <a:srgbClr val="142037"/>
          </a:solidFill>
          <a:ln>
            <a:solidFill>
              <a:srgbClr val="4CD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48472" y="205740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CDC9A"/>
                </a:solidFill>
                <a:latin typeface="Aptos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2542032"/>
            <a:ext cx="13807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Run Model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3063240"/>
            <a:ext cx="1325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EBED3"/>
                </a:solidFill>
                <a:latin typeface="Aptos"/>
              </a:rPr>
              <a:t>Loaded model
predicts output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857232" y="2926080"/>
            <a:ext cx="338328" cy="0"/>
          </a:xfrm>
          <a:prstGeom prst="line">
            <a:avLst/>
          </a:prstGeom>
          <a:ln w="31750">
            <a:solidFill>
              <a:srgbClr val="40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195560" y="1874519"/>
            <a:ext cx="1600200" cy="2103120"/>
          </a:xfrm>
          <a:prstGeom prst="roundRect">
            <a:avLst/>
          </a:prstGeom>
          <a:solidFill>
            <a:srgbClr val="142037"/>
          </a:solidFill>
          <a:ln>
            <a:solidFill>
              <a:srgbClr val="4CD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287000" y="2057400"/>
            <a:ext cx="1417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4CDC9A"/>
                </a:solidFill>
                <a:latin typeface="Aptos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05288" y="2542032"/>
            <a:ext cx="1380744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Show Result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32720" y="3063240"/>
            <a:ext cx="1325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EBED3"/>
                </a:solidFill>
                <a:latin typeface="Aptos"/>
              </a:rPr>
              <a:t>Diagnosis message
shown to user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709160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40C9FF"/>
                </a:solidFill>
                <a:latin typeface="Aptos"/>
              </a:rPr>
              <a:t>Control 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74519" y="4617720"/>
            <a:ext cx="93268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F5F8FC"/>
                </a:solidFill>
                <a:latin typeface="Aptos"/>
              </a:rPr>
              <a:t>The application uses the same high-level inference pattern for all three disease modules; only the input schema and loaded model differ.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MULTIPLE DISEASE PREDICTION SYSTEM  •  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6510528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BED3"/>
                </a:solidFill>
                <a:latin typeface="Aptos"/>
              </a:rPr>
              <a:t>ML • Streamlit • Decision Support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6.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6868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Logical architecture of the deployed application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2606040"/>
            <a:ext cx="1737360" cy="731520"/>
          </a:xfrm>
          <a:prstGeom prst="roundRect">
            <a:avLst/>
          </a:prstGeom>
          <a:solidFill>
            <a:srgbClr val="192A46"/>
          </a:solidFill>
          <a:ln>
            <a:solidFill>
              <a:srgbClr val="4CD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2688" y="2679192"/>
            <a:ext cx="151790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END USER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2331720"/>
            <a:ext cx="2148840" cy="1280160"/>
          </a:xfrm>
          <a:prstGeom prst="roundRect">
            <a:avLst/>
          </a:prstGeom>
          <a:solidFill>
            <a:srgbClr val="192A46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355848" y="2404872"/>
            <a:ext cx="1929384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STREAMLIT UI
&amp; NAVIGATION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2331720"/>
            <a:ext cx="1965960" cy="1280160"/>
          </a:xfrm>
          <a:prstGeom prst="roundRect">
            <a:avLst/>
          </a:prstGeom>
          <a:solidFill>
            <a:srgbClr val="192A46"/>
          </a:solidFill>
          <a:ln>
            <a:solidFill>
              <a:srgbClr val="FF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36208" y="2404872"/>
            <a:ext cx="1746504" cy="11338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INPUT
VALIDATION / CAST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823960" y="1508760"/>
            <a:ext cx="1828800" cy="777240"/>
          </a:xfrm>
          <a:prstGeom prst="roundRect">
            <a:avLst/>
          </a:prstGeom>
          <a:solidFill>
            <a:srgbClr val="192A46"/>
          </a:solidFill>
          <a:ln>
            <a:solidFill>
              <a:srgbClr val="A1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933688" y="1581912"/>
            <a:ext cx="1609344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MODEL
ARTIFACTS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2743200"/>
            <a:ext cx="1828800" cy="777240"/>
          </a:xfrm>
          <a:prstGeom prst="roundRect">
            <a:avLst/>
          </a:prstGeom>
          <a:solidFill>
            <a:srgbClr val="192A46"/>
          </a:solidFill>
          <a:ln>
            <a:solidFill>
              <a:srgbClr val="A1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933688" y="2816352"/>
            <a:ext cx="1609344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MODEL
PREDICTION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3977639"/>
            <a:ext cx="1828800" cy="777240"/>
          </a:xfrm>
          <a:prstGeom prst="roundRect">
            <a:avLst/>
          </a:prstGeom>
          <a:solidFill>
            <a:srgbClr val="192A46"/>
          </a:solidFill>
          <a:ln>
            <a:solidFill>
              <a:srgbClr val="4CD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33688" y="4050791"/>
            <a:ext cx="1609344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RESULT
DISPLAY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560320" y="2971800"/>
            <a:ext cx="685800" cy="0"/>
          </a:xfrm>
          <a:prstGeom prst="line">
            <a:avLst/>
          </a:prstGeom>
          <a:ln w="31750">
            <a:solidFill>
              <a:srgbClr val="4CDC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394960" y="2971800"/>
            <a:ext cx="731520" cy="0"/>
          </a:xfrm>
          <a:prstGeom prst="line">
            <a:avLst/>
          </a:prstGeom>
          <a:ln w="31750">
            <a:solidFill>
              <a:srgbClr val="40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8092440" y="1901952"/>
            <a:ext cx="731520" cy="841248"/>
          </a:xfrm>
          <a:prstGeom prst="line">
            <a:avLst/>
          </a:prstGeom>
          <a:ln w="31750">
            <a:solidFill>
              <a:srgbClr val="FFB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738360" y="2286000"/>
            <a:ext cx="0" cy="457200"/>
          </a:xfrm>
          <a:prstGeom prst="line">
            <a:avLst/>
          </a:prstGeom>
          <a:ln w="31750">
            <a:solidFill>
              <a:srgbClr val="A1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9738360" y="3520440"/>
            <a:ext cx="0" cy="457199"/>
          </a:xfrm>
          <a:prstGeom prst="line">
            <a:avLst/>
          </a:prstGeom>
          <a:ln w="31750">
            <a:solidFill>
              <a:srgbClr val="A1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822960" y="525780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Startup loads three saved model files: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5230368"/>
            <a:ext cx="7223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diabetes_model.sav   •   heart_disease_model.sav   •   parkinsons_model.sav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MULTIPLE DISEASE PREDICTION SYSTEM  •  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6510528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BED3"/>
                </a:solidFill>
                <a:latin typeface="Aptos"/>
              </a:rPr>
              <a:t>ML • Streamlit • Decision Support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7. Data Flow Diagram — Level 0 / 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68680" y="2560320"/>
            <a:ext cx="1600200" cy="777240"/>
          </a:xfrm>
          <a:prstGeom prst="roundRect">
            <a:avLst/>
          </a:prstGeom>
          <a:solidFill>
            <a:srgbClr val="192A46"/>
          </a:solidFill>
          <a:ln>
            <a:solidFill>
              <a:srgbClr val="4CD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78407" y="2633472"/>
            <a:ext cx="1380744" cy="630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USER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2148840"/>
            <a:ext cx="2743200" cy="1645920"/>
          </a:xfrm>
          <a:prstGeom prst="roundRect">
            <a:avLst/>
          </a:prstGeom>
          <a:solidFill>
            <a:srgbClr val="192A46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950208" y="2221992"/>
            <a:ext cx="2523744" cy="1499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MULTIPLE DISEASE
PREDICTION APP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2148840"/>
            <a:ext cx="2331720" cy="1645920"/>
          </a:xfrm>
          <a:prstGeom prst="roundRect">
            <a:avLst/>
          </a:prstGeom>
          <a:solidFill>
            <a:srgbClr val="192A46"/>
          </a:solidFill>
          <a:ln>
            <a:solidFill>
              <a:srgbClr val="A1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47888" y="2221992"/>
            <a:ext cx="2112263" cy="14996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DISEASE-SPECIFIC
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195560" y="4617720"/>
            <a:ext cx="1280160" cy="731520"/>
          </a:xfrm>
          <a:prstGeom prst="roundRect">
            <a:avLst/>
          </a:prstGeom>
          <a:solidFill>
            <a:srgbClr val="192A46"/>
          </a:solidFill>
          <a:ln>
            <a:solidFill>
              <a:srgbClr val="FF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305288" y="4690872"/>
            <a:ext cx="106070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RESULT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468880" y="2926080"/>
            <a:ext cx="1371600" cy="0"/>
          </a:xfrm>
          <a:prstGeom prst="line">
            <a:avLst/>
          </a:prstGeom>
          <a:ln w="31750">
            <a:solidFill>
              <a:srgbClr val="4CDC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583680" y="2926080"/>
            <a:ext cx="1554480" cy="0"/>
          </a:xfrm>
          <a:prstGeom prst="line">
            <a:avLst/>
          </a:prstGeom>
          <a:ln w="31750">
            <a:solidFill>
              <a:srgbClr val="40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308592" y="3794760"/>
            <a:ext cx="886968" cy="822960"/>
          </a:xfrm>
          <a:prstGeom prst="line">
            <a:avLst/>
          </a:prstGeom>
          <a:ln w="31750">
            <a:solidFill>
              <a:srgbClr val="A1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2514600" y="2578608"/>
            <a:ext cx="11887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EBED3"/>
                </a:solidFill>
                <a:latin typeface="Aptos"/>
              </a:rPr>
              <a:t>Input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2578608"/>
            <a:ext cx="12801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EBED3"/>
                </a:solidFill>
                <a:latin typeface="Aptos"/>
              </a:rPr>
              <a:t>feature vector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4160520"/>
            <a:ext cx="9144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EBED3"/>
                </a:solidFill>
                <a:latin typeface="Aptos"/>
              </a:rPr>
              <a:t>prediction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440680"/>
            <a:ext cx="99669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>
                <a:solidFill>
                  <a:srgbClr val="F5F8FC"/>
                </a:solidFill>
                <a:latin typeface="Aptos"/>
              </a:rPr>
              <a:t>The same context-level flow applies to Diabetes, Heart Disease, and Parkinson’s; the feature set changes by module.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MULTIPLE DISEASE PREDICTION SYSTEM  •  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6510528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BED3"/>
                </a:solidFill>
                <a:latin typeface="Aptos"/>
              </a:rPr>
              <a:t>ML • Streamlit • Decision Support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8. Disease Modules &amp; Feature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234440"/>
            <a:ext cx="3566160" cy="4983480"/>
          </a:xfrm>
          <a:prstGeom prst="roundRect">
            <a:avLst/>
          </a:prstGeom>
          <a:solidFill>
            <a:srgbClr val="142037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40C9FF"/>
                </a:solidFill>
                <a:latin typeface="Aptos"/>
              </a:rPr>
              <a:t>DIABETES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74519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EBED3"/>
                </a:solidFill>
                <a:latin typeface="Aptos"/>
              </a:rPr>
              <a:t>8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23160"/>
            <a:ext cx="2880360" cy="2331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Pregnancies</a:t>
            </a:r>
          </a:p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Glucose</a:t>
            </a:r>
          </a:p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</a:t>
            </a:r>
            <a:r>
              <a:rPr sz="1600" dirty="0" err="1"/>
              <a:t>BloodPressure</a:t>
            </a:r>
            <a:endParaRPr sz="1600" dirty="0"/>
          </a:p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</a:t>
            </a:r>
            <a:r>
              <a:rPr sz="1600" dirty="0" err="1"/>
              <a:t>SkinThickness</a:t>
            </a:r>
            <a:endParaRPr sz="1600" dirty="0"/>
          </a:p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Insulin</a:t>
            </a:r>
          </a:p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BMI</a:t>
            </a:r>
          </a:p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</a:t>
            </a:r>
            <a:r>
              <a:rPr sz="1600" dirty="0" err="1"/>
              <a:t>DiabetesPedigreeFunction</a:t>
            </a:r>
            <a:endParaRPr sz="1600" dirty="0"/>
          </a:p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34440"/>
            <a:ext cx="3566160" cy="4983480"/>
          </a:xfrm>
          <a:prstGeom prst="roundRect">
            <a:avLst/>
          </a:prstGeom>
          <a:solidFill>
            <a:srgbClr val="142037"/>
          </a:solidFill>
          <a:ln>
            <a:solidFill>
              <a:srgbClr val="FF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17720" y="150876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FF6878"/>
                </a:solidFill>
                <a:latin typeface="Aptos"/>
              </a:rPr>
              <a:t>HEART DISEASE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720" y="1874519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EBED3"/>
                </a:solidFill>
                <a:latin typeface="Aptos"/>
              </a:rPr>
              <a:t>13 inputs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59" y="2423160"/>
            <a:ext cx="288036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Age</a:t>
            </a:r>
          </a:p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Sex</a:t>
            </a:r>
          </a:p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Chest pain type</a:t>
            </a:r>
          </a:p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Resting BP</a:t>
            </a:r>
          </a:p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Cholesterol</a:t>
            </a:r>
          </a:p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Fasting blood sugar</a:t>
            </a:r>
          </a:p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Rest ECG</a:t>
            </a:r>
          </a:p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Max heart rate</a:t>
            </a:r>
          </a:p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Exercise angina</a:t>
            </a:r>
          </a:p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ST depression</a:t>
            </a:r>
          </a:p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Slope</a:t>
            </a:r>
          </a:p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CA</a:t>
            </a:r>
          </a:p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Thal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234440"/>
            <a:ext cx="3566160" cy="4983480"/>
          </a:xfrm>
          <a:prstGeom prst="roundRect">
            <a:avLst/>
          </a:prstGeom>
          <a:solidFill>
            <a:srgbClr val="142037"/>
          </a:solidFill>
          <a:ln>
            <a:solidFill>
              <a:srgbClr val="A1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503920" y="1508760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A17BFF"/>
                </a:solidFill>
                <a:latin typeface="Aptos"/>
              </a:rPr>
              <a:t>PARKINSON’S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1874519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AEBED3"/>
                </a:solidFill>
                <a:latin typeface="Aptos"/>
              </a:rPr>
              <a:t>22 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423160"/>
            <a:ext cx="2880360" cy="23314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Fo / </a:t>
            </a:r>
            <a:r>
              <a:rPr sz="1600" dirty="0" err="1"/>
              <a:t>Fhi</a:t>
            </a:r>
            <a:r>
              <a:rPr sz="1600" dirty="0"/>
              <a:t> / Flo</a:t>
            </a:r>
          </a:p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Jitter measures</a:t>
            </a:r>
          </a:p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RAP / PPQ / DDP</a:t>
            </a:r>
          </a:p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Shimmer measures</a:t>
            </a:r>
          </a:p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NHR / HNR</a:t>
            </a:r>
          </a:p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RPDE / DFA</a:t>
            </a:r>
          </a:p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Spread1 / Spread2</a:t>
            </a:r>
          </a:p>
          <a:p>
            <a:pPr>
              <a:spcAft>
                <a:spcPts val="300"/>
              </a:spcAft>
              <a:defRPr sz="12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D2 / PPE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MULTIPLE DISEASE PREDICTION SYSTEM  •  09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6510528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BED3"/>
                </a:solidFill>
                <a:latin typeface="Aptos"/>
              </a:rPr>
              <a:t>ML • Streamlit • Decision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9. Machine-Learning Inference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2514600"/>
            <a:ext cx="1645920" cy="822960"/>
          </a:xfrm>
          <a:prstGeom prst="roundRect">
            <a:avLst/>
          </a:prstGeom>
          <a:solidFill>
            <a:srgbClr val="192A46"/>
          </a:solidFill>
          <a:ln>
            <a:solidFill>
              <a:srgbClr val="4CD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2587752"/>
            <a:ext cx="1426464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RAW USER
INPUTS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0" y="2514600"/>
            <a:ext cx="1920240" cy="822960"/>
          </a:xfrm>
          <a:prstGeom prst="roundRect">
            <a:avLst/>
          </a:prstGeom>
          <a:solidFill>
            <a:srgbClr val="192A46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852928" y="2587752"/>
            <a:ext cx="1700784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ORDERED
FEATURE VECTOR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66360" y="2514600"/>
            <a:ext cx="1737360" cy="822960"/>
          </a:xfrm>
          <a:prstGeom prst="roundRect">
            <a:avLst/>
          </a:prstGeom>
          <a:solidFill>
            <a:srgbClr val="192A46"/>
          </a:solidFill>
          <a:ln>
            <a:solidFill>
              <a:srgbClr val="FF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76088" y="2587752"/>
            <a:ext cx="1517904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float()
CONVERSION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2514600"/>
            <a:ext cx="1737360" cy="822960"/>
          </a:xfrm>
          <a:prstGeom prst="roundRect">
            <a:avLst/>
          </a:prstGeom>
          <a:solidFill>
            <a:srgbClr val="192A46"/>
          </a:solidFill>
          <a:ln>
            <a:solidFill>
              <a:srgbClr val="A1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70648" y="2587752"/>
            <a:ext cx="1517904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LOADED
MODEL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2514600"/>
            <a:ext cx="1645920" cy="822960"/>
          </a:xfrm>
          <a:prstGeom prst="roundRect">
            <a:avLst/>
          </a:prstGeom>
          <a:solidFill>
            <a:srgbClr val="192A46"/>
          </a:solidFill>
          <a:ln>
            <a:solidFill>
              <a:srgbClr val="A1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65207" y="2587752"/>
            <a:ext cx="1426464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predict([x])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343400"/>
            <a:ext cx="1920240" cy="822960"/>
          </a:xfrm>
          <a:prstGeom prst="roundRect">
            <a:avLst/>
          </a:prstGeom>
          <a:solidFill>
            <a:srgbClr val="192A46"/>
          </a:solidFill>
          <a:ln>
            <a:solidFill>
              <a:srgbClr val="4CD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24927" y="4416552"/>
            <a:ext cx="1700784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CLASSIFICATION
MESSAGE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331720" y="2926080"/>
            <a:ext cx="411480" cy="0"/>
          </a:xfrm>
          <a:prstGeom prst="line">
            <a:avLst/>
          </a:prstGeom>
          <a:ln w="31750">
            <a:solidFill>
              <a:srgbClr val="40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663440" y="2926080"/>
            <a:ext cx="502920" cy="0"/>
          </a:xfrm>
          <a:prstGeom prst="line">
            <a:avLst/>
          </a:prstGeom>
          <a:ln w="31750">
            <a:solidFill>
              <a:srgbClr val="40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903720" y="2926080"/>
            <a:ext cx="457200" cy="0"/>
          </a:xfrm>
          <a:prstGeom prst="line">
            <a:avLst/>
          </a:prstGeom>
          <a:ln w="31750">
            <a:solidFill>
              <a:srgbClr val="40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98280" y="2926080"/>
            <a:ext cx="457200" cy="0"/>
          </a:xfrm>
          <a:prstGeom prst="line">
            <a:avLst/>
          </a:prstGeom>
          <a:ln w="31750">
            <a:solidFill>
              <a:srgbClr val="40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8275320" y="3337560"/>
            <a:ext cx="2103120" cy="1005840"/>
          </a:xfrm>
          <a:prstGeom prst="line">
            <a:avLst/>
          </a:prstGeom>
          <a:ln w="31750">
            <a:solidFill>
              <a:srgbClr val="A1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MULTIPLE DISEASE PREDICTION SYSTEM  •  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6510528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BED3"/>
                </a:solidFill>
                <a:latin typeface="Aptos"/>
              </a:rPr>
              <a:t>ML • Streamlit • Decision Support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10. User Interface &amp; Navigation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874519"/>
            <a:ext cx="1828800" cy="2834640"/>
          </a:xfrm>
          <a:prstGeom prst="roundRect">
            <a:avLst/>
          </a:prstGeom>
          <a:solidFill>
            <a:srgbClr val="192A46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77824" y="1504139"/>
            <a:ext cx="1609344" cy="2688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 dirty="0">
                <a:solidFill>
                  <a:srgbClr val="F5F8FC"/>
                </a:solidFill>
                <a:latin typeface="Aptos"/>
              </a:rPr>
              <a:t>SIDEBAR
NAVIGATION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" y="3200400"/>
            <a:ext cx="14630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 dirty="0">
                <a:solidFill>
                  <a:srgbClr val="F5F8FC"/>
                </a:solidFill>
                <a:latin typeface="Aptos"/>
              </a:rPr>
              <a:t>Diabetes Prediction
Heart Disease Prediction
Parkinsons Prediction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0" y="1600200"/>
            <a:ext cx="2743200" cy="731520"/>
          </a:xfrm>
          <a:prstGeom prst="roundRect">
            <a:avLst/>
          </a:prstGeom>
          <a:solidFill>
            <a:srgbClr val="192A46"/>
          </a:solidFill>
          <a:ln>
            <a:solidFill>
              <a:srgbClr val="4CD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767328" y="1673352"/>
            <a:ext cx="25237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DISEASE PAGE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2743200"/>
            <a:ext cx="2743200" cy="731520"/>
          </a:xfrm>
          <a:prstGeom prst="roundRect">
            <a:avLst/>
          </a:prstGeom>
          <a:solidFill>
            <a:srgbClr val="192A46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767328" y="2816352"/>
            <a:ext cx="25237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INPUT FORM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3886200"/>
            <a:ext cx="2743200" cy="731520"/>
          </a:xfrm>
          <a:prstGeom prst="roundRect">
            <a:avLst/>
          </a:prstGeom>
          <a:solidFill>
            <a:srgbClr val="192A46"/>
          </a:solidFill>
          <a:ln>
            <a:solidFill>
              <a:srgbClr val="FF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767328" y="3959352"/>
            <a:ext cx="252374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TEST RESULT
BUTTON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2743200"/>
            <a:ext cx="2194560" cy="914400"/>
          </a:xfrm>
          <a:prstGeom prst="roundRect">
            <a:avLst/>
          </a:prstGeom>
          <a:solidFill>
            <a:srgbClr val="192A46"/>
          </a:solidFill>
          <a:ln>
            <a:solidFill>
              <a:srgbClr val="4CD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47888" y="2816352"/>
            <a:ext cx="197510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RESULT
MESSAGE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606040" y="1965960"/>
            <a:ext cx="1051560" cy="1280160"/>
          </a:xfrm>
          <a:prstGeom prst="line">
            <a:avLst/>
          </a:prstGeom>
          <a:ln w="31750">
            <a:solidFill>
              <a:srgbClr val="40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0" y="2331720"/>
            <a:ext cx="0" cy="411480"/>
          </a:xfrm>
          <a:prstGeom prst="line">
            <a:avLst/>
          </a:prstGeom>
          <a:ln w="31750">
            <a:solidFill>
              <a:srgbClr val="4CDC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29200" y="3474720"/>
            <a:ext cx="0" cy="411480"/>
          </a:xfrm>
          <a:prstGeom prst="line">
            <a:avLst/>
          </a:prstGeom>
          <a:ln w="31750">
            <a:solidFill>
              <a:srgbClr val="40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6400800" y="3200400"/>
            <a:ext cx="1737360" cy="1051560"/>
          </a:xfrm>
          <a:prstGeom prst="line">
            <a:avLst/>
          </a:prstGeom>
          <a:ln w="31750">
            <a:solidFill>
              <a:srgbClr val="FFB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092440" y="664169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0C9FF"/>
                </a:solidFill>
                <a:latin typeface="Aptos"/>
              </a:rPr>
              <a:t>Design strengths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19" y="1024128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rPr dirty="0"/>
              <a:t>• Wide page layout</a:t>
            </a:r>
          </a:p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rPr dirty="0"/>
              <a:t>• Disease-specific forms</a:t>
            </a:r>
          </a:p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rPr dirty="0"/>
              <a:t>• Consistent submit action</a:t>
            </a:r>
          </a:p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rPr dirty="0"/>
              <a:t>• Immediate textual output</a:t>
            </a:r>
          </a:p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rPr dirty="0"/>
              <a:t>• Simple learning curve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MULTIPLE DISEASE PREDICTION SYSTEM  •  11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6510528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BED3"/>
                </a:solidFill>
                <a:latin typeface="Aptos"/>
              </a:rPr>
              <a:t>ML • Streamlit • Decision Support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11. Technologies &amp; Implementation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2880360" cy="640080"/>
          </a:xfrm>
          <a:prstGeom prst="roundRect">
            <a:avLst/>
          </a:prstGeom>
          <a:solidFill>
            <a:srgbClr val="192A46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307592"/>
            <a:ext cx="2660904" cy="493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1344168"/>
            <a:ext cx="4023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Application language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11880" y="1554480"/>
            <a:ext cx="274320" cy="0"/>
          </a:xfrm>
          <a:prstGeom prst="line">
            <a:avLst/>
          </a:prstGeom>
          <a:ln w="31750">
            <a:solidFill>
              <a:srgbClr val="40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2148840"/>
            <a:ext cx="2880360" cy="640080"/>
          </a:xfrm>
          <a:prstGeom prst="roundRect">
            <a:avLst/>
          </a:prstGeom>
          <a:solidFill>
            <a:srgbClr val="192A46"/>
          </a:solidFill>
          <a:ln>
            <a:solidFill>
              <a:srgbClr val="4CD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2221992"/>
            <a:ext cx="2660904" cy="493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STREAMLIT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31920" y="2258568"/>
            <a:ext cx="4023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Web UI / app runtime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611880" y="2468880"/>
            <a:ext cx="274320" cy="0"/>
          </a:xfrm>
          <a:prstGeom prst="line">
            <a:avLst/>
          </a:prstGeom>
          <a:ln w="31750">
            <a:solidFill>
              <a:srgbClr val="4CDC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" y="3063240"/>
            <a:ext cx="2880360" cy="640080"/>
          </a:xfrm>
          <a:prstGeom prst="roundRect">
            <a:avLst/>
          </a:prstGeom>
          <a:solidFill>
            <a:srgbClr val="192A46"/>
          </a:solidFill>
          <a:ln>
            <a:solidFill>
              <a:srgbClr val="FF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1248" y="3136392"/>
            <a:ext cx="2660904" cy="493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STREAMLIT OPTION MENU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172968"/>
            <a:ext cx="4023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Sidebar navigation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11880" y="3383280"/>
            <a:ext cx="274320" cy="0"/>
          </a:xfrm>
          <a:prstGeom prst="line">
            <a:avLst/>
          </a:prstGeom>
          <a:ln w="31750">
            <a:solidFill>
              <a:srgbClr val="FFB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3977639"/>
            <a:ext cx="2880360" cy="640080"/>
          </a:xfrm>
          <a:prstGeom prst="roundRect">
            <a:avLst/>
          </a:prstGeom>
          <a:solidFill>
            <a:srgbClr val="192A46"/>
          </a:solidFill>
          <a:ln>
            <a:solidFill>
              <a:srgbClr val="A1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1248" y="4050791"/>
            <a:ext cx="2660904" cy="493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PICKLE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4087368"/>
            <a:ext cx="4023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Load serialized .sav models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611880" y="4297679"/>
            <a:ext cx="274320" cy="0"/>
          </a:xfrm>
          <a:prstGeom prst="line">
            <a:avLst/>
          </a:prstGeom>
          <a:ln w="31750">
            <a:solidFill>
              <a:srgbClr val="A1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1520" y="4892040"/>
            <a:ext cx="2880360" cy="640080"/>
          </a:xfrm>
          <a:prstGeom prst="roundRect">
            <a:avLst/>
          </a:prstGeom>
          <a:solidFill>
            <a:srgbClr val="192A46"/>
          </a:solidFill>
          <a:ln>
            <a:solidFill>
              <a:srgbClr val="FF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1248" y="4965192"/>
            <a:ext cx="2660904" cy="493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1">
                <a:solidFill>
                  <a:srgbClr val="F5F8FC"/>
                </a:solidFill>
                <a:latin typeface="Aptos"/>
              </a:rPr>
              <a:t>ML MODEL ARTIFACTS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5001768"/>
            <a:ext cx="4023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Three saved predictors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86800" y="2194560"/>
            <a:ext cx="2057400" cy="914400"/>
          </a:xfrm>
          <a:prstGeom prst="roundRect">
            <a:avLst/>
          </a:prstGeom>
          <a:solidFill>
            <a:srgbClr val="192A46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796528" y="2267712"/>
            <a:ext cx="1837943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APPLICATION
RUNTIME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686800" y="3794760"/>
            <a:ext cx="2057400" cy="914400"/>
          </a:xfrm>
          <a:prstGeom prst="roundRect">
            <a:avLst/>
          </a:prstGeom>
          <a:solidFill>
            <a:srgbClr val="192A46"/>
          </a:solidFill>
          <a:ln>
            <a:solidFill>
              <a:srgbClr val="4CD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796528" y="3867912"/>
            <a:ext cx="1837943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5F8FC"/>
                </a:solidFill>
                <a:latin typeface="Aptos"/>
              </a:rPr>
              <a:t>PREDICTION
OUTPUT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7269480" y="2651760"/>
            <a:ext cx="1417320" cy="91440"/>
          </a:xfrm>
          <a:prstGeom prst="line">
            <a:avLst/>
          </a:prstGeom>
          <a:ln w="31750">
            <a:solidFill>
              <a:srgbClr val="40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710928" y="3108960"/>
            <a:ext cx="0" cy="685800"/>
          </a:xfrm>
          <a:prstGeom prst="line">
            <a:avLst/>
          </a:prstGeom>
          <a:ln w="31750">
            <a:solidFill>
              <a:srgbClr val="4CDC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MULTIPLE DISEASE PREDICTION SYSTEM  •  12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6510528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BED3"/>
                </a:solidFill>
                <a:latin typeface="Aptos"/>
              </a:rPr>
              <a:t>ML • Streamlit • Decision Support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12. Module-Wise Comparison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80160"/>
            <a:ext cx="2240280" cy="594360"/>
          </a:xfrm>
          <a:prstGeom prst="roundRect">
            <a:avLst/>
          </a:prstGeom>
          <a:solidFill>
            <a:srgbClr val="192A46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67512" y="1408176"/>
            <a:ext cx="20939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Aspect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1280160"/>
            <a:ext cx="2240280" cy="594360"/>
          </a:xfrm>
          <a:prstGeom prst="roundRect">
            <a:avLst/>
          </a:prstGeom>
          <a:solidFill>
            <a:srgbClr val="192A46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136392" y="1408176"/>
            <a:ext cx="20939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Diabetes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1280160"/>
            <a:ext cx="2468880" cy="594360"/>
          </a:xfrm>
          <a:prstGeom prst="roundRect">
            <a:avLst/>
          </a:prstGeom>
          <a:solidFill>
            <a:srgbClr val="192A46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559552" y="1408176"/>
            <a:ext cx="232257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Heart Disease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1280160"/>
            <a:ext cx="3337560" cy="594360"/>
          </a:xfrm>
          <a:prstGeom prst="roundRect">
            <a:avLst/>
          </a:prstGeom>
          <a:solidFill>
            <a:srgbClr val="192A46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02752" y="1408176"/>
            <a:ext cx="3191256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Parkinson’s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011680"/>
            <a:ext cx="2240280" cy="685800"/>
          </a:xfrm>
          <a:prstGeom prst="roundRect">
            <a:avLst/>
          </a:prstGeom>
          <a:solidFill>
            <a:srgbClr val="142037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121408"/>
            <a:ext cx="2057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Input count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011680"/>
            <a:ext cx="2240280" cy="685800"/>
          </a:xfrm>
          <a:prstGeom prst="roundRect">
            <a:avLst/>
          </a:prstGeom>
          <a:solidFill>
            <a:srgbClr val="142037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154680" y="2121408"/>
            <a:ext cx="2057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5F8FC"/>
                </a:solidFill>
                <a:latin typeface="Aptos"/>
              </a:rPr>
              <a:t>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0" y="2011680"/>
            <a:ext cx="2468880" cy="685800"/>
          </a:xfrm>
          <a:prstGeom prst="roundRect">
            <a:avLst/>
          </a:prstGeom>
          <a:solidFill>
            <a:srgbClr val="142037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2121408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5F8FC"/>
                </a:solidFill>
                <a:latin typeface="Aptos"/>
              </a:rPr>
              <a:t>13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011680"/>
            <a:ext cx="3337560" cy="685800"/>
          </a:xfrm>
          <a:prstGeom prst="roundRect">
            <a:avLst/>
          </a:prstGeom>
          <a:solidFill>
            <a:srgbClr val="142037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21040" y="2121408"/>
            <a:ext cx="31546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5F8FC"/>
                </a:solidFill>
                <a:latin typeface="Aptos"/>
              </a:rPr>
              <a:t>22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2880360"/>
            <a:ext cx="2240280" cy="685800"/>
          </a:xfrm>
          <a:prstGeom prst="roundRect">
            <a:avLst/>
          </a:prstGeom>
          <a:solidFill>
            <a:srgbClr val="142037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2990088"/>
            <a:ext cx="2057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Input type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63240" y="2880360"/>
            <a:ext cx="2240280" cy="685800"/>
          </a:xfrm>
          <a:prstGeom prst="roundRect">
            <a:avLst/>
          </a:prstGeom>
          <a:solidFill>
            <a:srgbClr val="142037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154680" y="2990088"/>
            <a:ext cx="2057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5F8FC"/>
                </a:solidFill>
                <a:latin typeface="Aptos"/>
              </a:rPr>
              <a:t>Clinical / demographic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0" y="2880360"/>
            <a:ext cx="2468880" cy="685800"/>
          </a:xfrm>
          <a:prstGeom prst="roundRect">
            <a:avLst/>
          </a:prstGeom>
          <a:solidFill>
            <a:srgbClr val="142037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577840" y="2990088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5F8FC"/>
                </a:solidFill>
                <a:latin typeface="Aptos"/>
              </a:rPr>
              <a:t>Clinical / cardiac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880360"/>
            <a:ext cx="3337560" cy="685800"/>
          </a:xfrm>
          <a:prstGeom prst="roundRect">
            <a:avLst/>
          </a:prstGeom>
          <a:solidFill>
            <a:srgbClr val="142037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321040" y="2990088"/>
            <a:ext cx="31546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5F8FC"/>
                </a:solidFill>
                <a:latin typeface="Aptos"/>
              </a:rPr>
              <a:t>Voice-related numerical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749039"/>
            <a:ext cx="2240280" cy="685800"/>
          </a:xfrm>
          <a:prstGeom prst="roundRect">
            <a:avLst/>
          </a:prstGeom>
          <a:solidFill>
            <a:srgbClr val="142037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5800" y="3858768"/>
            <a:ext cx="2057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Model call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63240" y="3749039"/>
            <a:ext cx="2240280" cy="685800"/>
          </a:xfrm>
          <a:prstGeom prst="roundRect">
            <a:avLst/>
          </a:prstGeom>
          <a:solidFill>
            <a:srgbClr val="142037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54680" y="3858768"/>
            <a:ext cx="2057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5F8FC"/>
                </a:solidFill>
                <a:latin typeface="Aptos"/>
              </a:rPr>
              <a:t>predict([x])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0" y="3749039"/>
            <a:ext cx="2468880" cy="685800"/>
          </a:xfrm>
          <a:prstGeom prst="roundRect">
            <a:avLst/>
          </a:prstGeom>
          <a:solidFill>
            <a:srgbClr val="142037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577840" y="3858768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5F8FC"/>
                </a:solidFill>
                <a:latin typeface="Aptos"/>
              </a:rPr>
              <a:t>predict([x])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3749039"/>
            <a:ext cx="3337560" cy="685800"/>
          </a:xfrm>
          <a:prstGeom prst="roundRect">
            <a:avLst/>
          </a:prstGeom>
          <a:solidFill>
            <a:srgbClr val="142037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321040" y="3858768"/>
            <a:ext cx="31546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5F8FC"/>
                </a:solidFill>
                <a:latin typeface="Aptos"/>
              </a:rPr>
              <a:t>predict([x])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4360" y="4617720"/>
            <a:ext cx="2240280" cy="685800"/>
          </a:xfrm>
          <a:prstGeom prst="roundRect">
            <a:avLst/>
          </a:prstGeom>
          <a:solidFill>
            <a:srgbClr val="142037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" y="4727448"/>
            <a:ext cx="2057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5F8FC"/>
                </a:solidFill>
                <a:latin typeface="Aptos"/>
              </a:rPr>
              <a:t>Result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63240" y="4617720"/>
            <a:ext cx="2240280" cy="685800"/>
          </a:xfrm>
          <a:prstGeom prst="roundRect">
            <a:avLst/>
          </a:prstGeom>
          <a:solidFill>
            <a:srgbClr val="142037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154680" y="4727448"/>
            <a:ext cx="2057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5F8FC"/>
                </a:solidFill>
                <a:latin typeface="Aptos"/>
              </a:rPr>
              <a:t>Diabetic / not diabetic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86400" y="4617720"/>
            <a:ext cx="2468880" cy="685800"/>
          </a:xfrm>
          <a:prstGeom prst="roundRect">
            <a:avLst/>
          </a:prstGeom>
          <a:solidFill>
            <a:srgbClr val="142037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577840" y="4727448"/>
            <a:ext cx="22860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5F8FC"/>
                </a:solidFill>
                <a:latin typeface="Aptos"/>
              </a:rPr>
              <a:t>Heart disease / no heart disease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4617720"/>
            <a:ext cx="3337560" cy="685800"/>
          </a:xfrm>
          <a:prstGeom prst="roundRect">
            <a:avLst/>
          </a:prstGeom>
          <a:solidFill>
            <a:srgbClr val="142037"/>
          </a:solidFill>
          <a:ln>
            <a:solidFill>
              <a:srgbClr val="192A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321040" y="4727448"/>
            <a:ext cx="3154679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0">
                <a:solidFill>
                  <a:srgbClr val="F5F8FC"/>
                </a:solidFill>
                <a:latin typeface="Aptos"/>
              </a:rPr>
              <a:t>Parkinson’s / no Parkinson’s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MULTIPLE DISEASE PREDICTION SYSTEM  •  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12480" y="6510528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BED3"/>
                </a:solidFill>
                <a:latin typeface="Aptos"/>
              </a:rPr>
              <a:t>ML • Streamlit • Decision Support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13. HLD + LLD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3444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0C9FF"/>
                </a:solidFill>
                <a:latin typeface="Aptos"/>
              </a:rPr>
              <a:t>HIGH-LEVEL DESIGN (HLD)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011680" cy="731520"/>
          </a:xfrm>
          <a:prstGeom prst="roundRect">
            <a:avLst/>
          </a:prstGeom>
          <a:solidFill>
            <a:srgbClr val="192A46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1901952"/>
            <a:ext cx="179222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UI / NAVIGATION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54680" y="1828800"/>
            <a:ext cx="2011680" cy="731520"/>
          </a:xfrm>
          <a:prstGeom prst="roundRect">
            <a:avLst/>
          </a:prstGeom>
          <a:solidFill>
            <a:srgbClr val="192A46"/>
          </a:solidFill>
          <a:ln>
            <a:solidFill>
              <a:srgbClr val="4CD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264408" y="1901952"/>
            <a:ext cx="179222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DISEASE MODULES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0" y="1828800"/>
            <a:ext cx="2011680" cy="731520"/>
          </a:xfrm>
          <a:prstGeom prst="roundRect">
            <a:avLst/>
          </a:prstGeom>
          <a:solidFill>
            <a:srgbClr val="192A46"/>
          </a:solidFill>
          <a:ln>
            <a:solidFill>
              <a:srgbClr val="A1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687568" y="1901952"/>
            <a:ext cx="179222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MODEL LAYER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828800"/>
            <a:ext cx="2011680" cy="731520"/>
          </a:xfrm>
          <a:prstGeom prst="roundRect">
            <a:avLst/>
          </a:prstGeom>
          <a:solidFill>
            <a:srgbClr val="192A46"/>
          </a:solidFill>
          <a:ln>
            <a:solidFill>
              <a:srgbClr val="FF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110727" y="1901952"/>
            <a:ext cx="179222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RESULT LAYER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2194560"/>
            <a:ext cx="411480" cy="0"/>
          </a:xfrm>
          <a:prstGeom prst="line">
            <a:avLst/>
          </a:prstGeom>
          <a:ln w="31750">
            <a:solidFill>
              <a:srgbClr val="40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166360" y="2194560"/>
            <a:ext cx="411480" cy="0"/>
          </a:xfrm>
          <a:prstGeom prst="line">
            <a:avLst/>
          </a:prstGeom>
          <a:ln w="31750">
            <a:solidFill>
              <a:srgbClr val="4CDC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589520" y="2194560"/>
            <a:ext cx="411480" cy="0"/>
          </a:xfrm>
          <a:prstGeom prst="line">
            <a:avLst/>
          </a:prstGeom>
          <a:ln w="31750">
            <a:solidFill>
              <a:srgbClr val="A1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85800" y="324612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CDC9A"/>
                </a:solidFill>
                <a:latin typeface="Aptos"/>
              </a:rPr>
              <a:t>LOW-LEVEL DESIGN (LLD)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94760"/>
            <a:ext cx="1874519" cy="685800"/>
          </a:xfrm>
          <a:prstGeom prst="roundRect">
            <a:avLst/>
          </a:prstGeom>
          <a:solidFill>
            <a:srgbClr val="192A46"/>
          </a:solidFill>
          <a:ln>
            <a:solidFill>
              <a:srgbClr val="4CD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9808" y="3867912"/>
            <a:ext cx="1655063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Input widgets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17720"/>
            <a:ext cx="1783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EBED3"/>
                </a:solidFill>
                <a:latin typeface="Aptos"/>
              </a:rPr>
              <a:t>st.text_input()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514600" y="4133087"/>
            <a:ext cx="365760" cy="0"/>
          </a:xfrm>
          <a:prstGeom prst="line">
            <a:avLst/>
          </a:prstGeom>
          <a:ln w="31750">
            <a:solidFill>
              <a:srgbClr val="4CDC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2880360" y="3794760"/>
            <a:ext cx="1874519" cy="685800"/>
          </a:xfrm>
          <a:prstGeom prst="roundRect">
            <a:avLst/>
          </a:prstGeom>
          <a:solidFill>
            <a:srgbClr val="192A46"/>
          </a:solidFill>
          <a:ln>
            <a:solidFill>
              <a:srgbClr val="4CD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990088" y="3867912"/>
            <a:ext cx="1655063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Feature list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4617720"/>
            <a:ext cx="1783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EBED3"/>
                </a:solidFill>
                <a:latin typeface="Aptos"/>
              </a:rPr>
              <a:t>ordered user_input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4754880" y="4133087"/>
            <a:ext cx="365760" cy="0"/>
          </a:xfrm>
          <a:prstGeom prst="line">
            <a:avLst/>
          </a:prstGeom>
          <a:ln w="31750">
            <a:solidFill>
              <a:srgbClr val="4CDC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120640" y="3794760"/>
            <a:ext cx="1874519" cy="685800"/>
          </a:xfrm>
          <a:prstGeom prst="roundRect">
            <a:avLst/>
          </a:prstGeom>
          <a:solidFill>
            <a:srgbClr val="192A46"/>
          </a:solidFill>
          <a:ln>
            <a:solidFill>
              <a:srgbClr val="4CD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30368" y="3867912"/>
            <a:ext cx="1655063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Conversion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4617720"/>
            <a:ext cx="1783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EBED3"/>
                </a:solidFill>
                <a:latin typeface="Aptos"/>
              </a:rPr>
              <a:t>float(x)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995160" y="4133087"/>
            <a:ext cx="365760" cy="0"/>
          </a:xfrm>
          <a:prstGeom prst="line">
            <a:avLst/>
          </a:prstGeom>
          <a:ln w="31750">
            <a:solidFill>
              <a:srgbClr val="4CDC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360920" y="3794760"/>
            <a:ext cx="1874519" cy="685800"/>
          </a:xfrm>
          <a:prstGeom prst="roundRect">
            <a:avLst/>
          </a:prstGeom>
          <a:solidFill>
            <a:srgbClr val="192A46"/>
          </a:solidFill>
          <a:ln>
            <a:solidFill>
              <a:srgbClr val="FF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70648" y="3867912"/>
            <a:ext cx="1655063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Inference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617720"/>
            <a:ext cx="1783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EBED3"/>
                </a:solidFill>
                <a:latin typeface="Aptos"/>
              </a:rPr>
              <a:t>model.predict([user_input])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9235440" y="4133087"/>
            <a:ext cx="365760" cy="0"/>
          </a:xfrm>
          <a:prstGeom prst="line">
            <a:avLst/>
          </a:prstGeom>
          <a:ln w="31750">
            <a:solidFill>
              <a:srgbClr val="4CDC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9601200" y="3794760"/>
            <a:ext cx="1874519" cy="685800"/>
          </a:xfrm>
          <a:prstGeom prst="roundRect">
            <a:avLst/>
          </a:prstGeom>
          <a:solidFill>
            <a:srgbClr val="192A46"/>
          </a:solidFill>
          <a:ln>
            <a:solidFill>
              <a:srgbClr val="FF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10928" y="3867912"/>
            <a:ext cx="1655063" cy="5394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Output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46920" y="4617720"/>
            <a:ext cx="17830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0">
                <a:solidFill>
                  <a:srgbClr val="AEBED3"/>
                </a:solidFill>
                <a:latin typeface="Aptos"/>
              </a:rPr>
              <a:t>st.success(message)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MULTIPLE DISEASE PREDICTION SYSTEM  •  14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6510528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BED3"/>
                </a:solidFill>
                <a:latin typeface="Aptos"/>
              </a:rPr>
              <a:t>ML • Streamlit • Decision Support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14. Feasibility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" y="1280160"/>
            <a:ext cx="5349240" cy="1965960"/>
          </a:xfrm>
          <a:prstGeom prst="roundRect">
            <a:avLst/>
          </a:prstGeom>
          <a:solidFill>
            <a:srgbClr val="142037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0C9FF"/>
                </a:solidFill>
                <a:latin typeface="Aptos"/>
              </a:rPr>
              <a:t>TECHNICAL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89120" y="1463039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900" b="1">
                <a:solidFill>
                  <a:srgbClr val="40C9FF"/>
                </a:solidFill>
                <a:latin typeface="Aptos"/>
              </a:rPr>
              <a:t>High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93391"/>
            <a:ext cx="4800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Python + Streamlit provides a lightweight web application layer; saved model artifacts are directly loaded by the application.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280160"/>
            <a:ext cx="5349240" cy="1965960"/>
          </a:xfrm>
          <a:prstGeom prst="roundRect">
            <a:avLst/>
          </a:prstGeom>
          <a:solidFill>
            <a:srgbClr val="142037"/>
          </a:solidFill>
          <a:ln>
            <a:solidFill>
              <a:srgbClr val="4CD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37960" y="1508760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4CDC9A"/>
                </a:solidFill>
                <a:latin typeface="Aptos"/>
              </a:rPr>
              <a:t>OPERATIONAL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104120" y="1463039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900" b="1">
                <a:solidFill>
                  <a:srgbClr val="4CDC9A"/>
                </a:solidFill>
                <a:latin typeface="Aptos"/>
              </a:rPr>
              <a:t>High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993391"/>
            <a:ext cx="4800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Users interact through forms and a sidebar, avoiding direct interaction with model files or code.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611879"/>
            <a:ext cx="5349240" cy="1965960"/>
          </a:xfrm>
          <a:prstGeom prst="roundRect">
            <a:avLst/>
          </a:prstGeom>
          <a:solidFill>
            <a:srgbClr val="142037"/>
          </a:solidFill>
          <a:ln>
            <a:solidFill>
              <a:srgbClr val="FF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3840479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FB24C"/>
                </a:solidFill>
                <a:latin typeface="Aptos"/>
              </a:rPr>
              <a:t>ECONOMIC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794759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900" b="1">
                <a:solidFill>
                  <a:srgbClr val="FFB24C"/>
                </a:solidFill>
                <a:latin typeface="Aptos"/>
              </a:rPr>
              <a:t>High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325112"/>
            <a:ext cx="4800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The current application is built from common open-source Python tooling and local model artifacts.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3611879"/>
            <a:ext cx="5349240" cy="1965960"/>
          </a:xfrm>
          <a:prstGeom prst="roundRect">
            <a:avLst/>
          </a:prstGeom>
          <a:solidFill>
            <a:srgbClr val="142037"/>
          </a:solidFill>
          <a:ln>
            <a:solidFill>
              <a:srgbClr val="A1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37960" y="3840479"/>
            <a:ext cx="2103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17BFF"/>
                </a:solidFill>
                <a:latin typeface="Aptos"/>
              </a:rPr>
              <a:t>SCALABILITY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04120" y="3766990"/>
            <a:ext cx="146304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900" b="1" dirty="0" err="1">
                <a:solidFill>
                  <a:srgbClr val="A17BFF"/>
                </a:solidFill>
                <a:latin typeface="Aptos"/>
              </a:rPr>
              <a:t>Moderat</a:t>
            </a:r>
            <a:r>
              <a:rPr lang="en-IN" sz="1900" b="1" dirty="0">
                <a:solidFill>
                  <a:srgbClr val="A17BFF"/>
                </a:solidFill>
                <a:latin typeface="Aptos"/>
              </a:rPr>
              <a:t>e</a:t>
            </a:r>
            <a:endParaRPr sz="1900" b="1" dirty="0">
              <a:solidFill>
                <a:srgbClr val="A17BFF"/>
              </a:solidFill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537960" y="4325112"/>
            <a:ext cx="4800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F5F8FC"/>
                </a:solidFill>
                <a:latin typeface="Aptos"/>
              </a:rPr>
              <a:t>The modular structure can be extended, but production scaling, authentication, monitoring and model serving would need additional engineering.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MULTIPLE DISEASE PREDICTION SYSTEM  •  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6510528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BED3"/>
                </a:solidFill>
                <a:latin typeface="Aptos"/>
              </a:rPr>
              <a:t>ML • Streamlit • Decision Support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15. Security, Reliability &amp;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80160"/>
            <a:ext cx="5394960" cy="4480560"/>
          </a:xfrm>
          <a:prstGeom prst="roundRect">
            <a:avLst/>
          </a:prstGeom>
          <a:solidFill>
            <a:srgbClr val="142037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155448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0C9FF"/>
                </a:solidFill>
                <a:latin typeface="Aptos"/>
              </a:rPr>
              <a:t>CURRENT SAFEGUARDS / GOOD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057400"/>
            <a:ext cx="4572000" cy="22544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Keep model files in a controlled application directory.</a:t>
            </a:r>
          </a:p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Validate and sanitize user input before model inference.</a:t>
            </a:r>
          </a:p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Avoid exposing model internals or serialized files to end users.</a:t>
            </a:r>
          </a:p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Add logging and exception handling before production deployment.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280160"/>
            <a:ext cx="5394960" cy="4480560"/>
          </a:xfrm>
          <a:prstGeom prst="roundRect">
            <a:avLst/>
          </a:prstGeom>
          <a:solidFill>
            <a:srgbClr val="142037"/>
          </a:solidFill>
          <a:ln>
            <a:solidFill>
              <a:srgbClr val="FF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28232" y="1554480"/>
            <a:ext cx="46634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B24C"/>
                </a:solidFill>
                <a:latin typeface="Aptos"/>
              </a:rPr>
              <a:t>SOURCE-IDENTIFIED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8232" y="2057400"/>
            <a:ext cx="4572000" cy="2811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The provided app.py does not show training code or dataset provenance.</a:t>
            </a:r>
          </a:p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No model accuracy, sensitivity, specificity or validation metrics are exposed.</a:t>
            </a:r>
          </a:p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The code uses direct float conversion; invalid/blank input can cause errors.</a:t>
            </a:r>
          </a:p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The result is a prediction message, not a clinical diagnosis workflow.</a:t>
            </a:r>
          </a:p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rPr sz="1600" dirty="0"/>
              <a:t>• No authentication, database, audit logging or monitoring is shown in app.py.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MULTIPLE DISEASE PREDICTION SYSTEM  • 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6510528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BED3"/>
                </a:solidFill>
                <a:latin typeface="Aptos"/>
              </a:rPr>
              <a:t>ML • Streamlit • Decision Support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16. Expected Impact &amp; Benefits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325880"/>
            <a:ext cx="2468880" cy="1051560"/>
          </a:xfrm>
          <a:prstGeom prst="roundRect">
            <a:avLst/>
          </a:prstGeom>
          <a:solidFill>
            <a:srgbClr val="142037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1463039"/>
            <a:ext cx="22494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40C9FF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1901952"/>
            <a:ext cx="22494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EBED3"/>
                </a:solidFill>
                <a:latin typeface="Aptos"/>
              </a:rPr>
              <a:t>Disease prediction modules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25880"/>
            <a:ext cx="2468880" cy="1051560"/>
          </a:xfrm>
          <a:prstGeom prst="roundRect">
            <a:avLst/>
          </a:prstGeom>
          <a:solidFill>
            <a:srgbClr val="142037"/>
          </a:solidFill>
          <a:ln>
            <a:solidFill>
              <a:srgbClr val="4CD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38728" y="1463039"/>
            <a:ext cx="22494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4CDC9A"/>
                </a:solidFill>
                <a:latin typeface="Aptos"/>
              </a:rPr>
              <a:t>43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38728" y="1901952"/>
            <a:ext cx="22494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EBED3"/>
                </a:solidFill>
                <a:latin typeface="Aptos"/>
              </a:rPr>
              <a:t>Input fields across modules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325880"/>
            <a:ext cx="2468880" cy="1051560"/>
          </a:xfrm>
          <a:prstGeom prst="roundRect">
            <a:avLst/>
          </a:prstGeom>
          <a:solidFill>
            <a:srgbClr val="142037"/>
          </a:solidFill>
          <a:ln>
            <a:solidFill>
              <a:srgbClr val="A1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81928" y="1463039"/>
            <a:ext cx="22494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A17BFF"/>
                </a:solidFill>
                <a:latin typeface="Apto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81928" y="1901952"/>
            <a:ext cx="22494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EBED3"/>
                </a:solidFill>
                <a:latin typeface="Aptos"/>
              </a:rPr>
              <a:t>Unified interface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5400" y="1325880"/>
            <a:ext cx="2468880" cy="1051560"/>
          </a:xfrm>
          <a:prstGeom prst="roundRect">
            <a:avLst/>
          </a:prstGeom>
          <a:solidFill>
            <a:srgbClr val="142037"/>
          </a:solidFill>
          <a:ln>
            <a:solidFill>
              <a:srgbClr val="FF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25128" y="1463039"/>
            <a:ext cx="2249424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 b="1">
                <a:solidFill>
                  <a:srgbClr val="FFB24C"/>
                </a:solidFill>
                <a:latin typeface="Aptos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5128" y="1901952"/>
            <a:ext cx="2249424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AEBED3"/>
                </a:solidFill>
                <a:latin typeface="Aptos"/>
              </a:rPr>
              <a:t>Need to expose model code to user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2788920"/>
            <a:ext cx="5257800" cy="2468880"/>
          </a:xfrm>
          <a:prstGeom prst="roundRect">
            <a:avLst/>
          </a:prstGeom>
          <a:solidFill>
            <a:srgbClr val="142037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0120" y="3063240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0C9FF"/>
                </a:solidFill>
                <a:latin typeface="Aptos"/>
              </a:rPr>
              <a:t>BENEFITS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52044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Simplifies access to multiple ML predictors.</a:t>
            </a:r>
          </a:p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Standardizes navigation and interaction.</a:t>
            </a:r>
          </a:p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Makes model inference accessible through a browser UI.</a:t>
            </a:r>
          </a:p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Supports academic demonstration of end-to-end ML deployment.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88920"/>
            <a:ext cx="5257800" cy="2468880"/>
          </a:xfrm>
          <a:prstGeom prst="roundRect">
            <a:avLst/>
          </a:prstGeom>
          <a:solidFill>
            <a:srgbClr val="142037"/>
          </a:solidFill>
          <a:ln>
            <a:solidFill>
              <a:srgbClr val="4CD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46520" y="30632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4CDC9A"/>
                </a:solidFill>
                <a:latin typeface="Aptos"/>
              </a:rPr>
              <a:t>POTENTIAL IMPACT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52044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Useful as an educational / prototype decision-support application.</a:t>
            </a:r>
          </a:p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Can be extended toward richer patient-facing workflows.</a:t>
            </a:r>
          </a:p>
          <a:p>
            <a:pPr>
              <a:spcAft>
                <a:spcPts val="500"/>
              </a:spcAft>
              <a:defRPr sz="1400">
                <a:solidFill>
                  <a:srgbClr val="F5F8FC"/>
                </a:solidFill>
                <a:latin typeface="Aptos"/>
              </a:defRPr>
            </a:pPr>
            <a:r>
              <a:t>• Can become a foundation for monitoring, analytics and model comparison.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MULTIPLE DISEASE PREDICTION SYSTEM  •  17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6510528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BED3"/>
                </a:solidFill>
                <a:latin typeface="Aptos"/>
              </a:rPr>
              <a:t>ML • Streamlit • Decision Support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17. Future Enhancements &amp;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143000"/>
            <a:ext cx="1234440" cy="621792"/>
          </a:xfrm>
          <a:prstGeom prst="roundRect">
            <a:avLst/>
          </a:prstGeom>
          <a:solidFill>
            <a:srgbClr val="192A46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95528" y="1216152"/>
            <a:ext cx="101498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PHASE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40280" y="12161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Robust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188720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Numeric range checks, required fields, clearer error handling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65960" y="1453896"/>
            <a:ext cx="228600" cy="0"/>
          </a:xfrm>
          <a:prstGeom prst="line">
            <a:avLst/>
          </a:prstGeom>
          <a:ln w="31750">
            <a:solidFill>
              <a:srgbClr val="40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685800" y="2103120"/>
            <a:ext cx="1234440" cy="621792"/>
          </a:xfrm>
          <a:prstGeom prst="roundRect">
            <a:avLst/>
          </a:prstGeom>
          <a:solidFill>
            <a:srgbClr val="192A46"/>
          </a:solidFill>
          <a:ln>
            <a:solidFill>
              <a:srgbClr val="4CD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95528" y="2176272"/>
            <a:ext cx="101498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PHASE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40280" y="217627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Better ML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48839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Training pipeline, evaluation metrics, versioned models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65960" y="2414015"/>
            <a:ext cx="228600" cy="0"/>
          </a:xfrm>
          <a:prstGeom prst="line">
            <a:avLst/>
          </a:prstGeom>
          <a:ln w="31750">
            <a:solidFill>
              <a:srgbClr val="4CDC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85800" y="3063240"/>
            <a:ext cx="1234440" cy="621792"/>
          </a:xfrm>
          <a:prstGeom prst="roundRect">
            <a:avLst/>
          </a:prstGeom>
          <a:solidFill>
            <a:srgbClr val="192A46"/>
          </a:solidFill>
          <a:ln>
            <a:solidFill>
              <a:srgbClr val="A1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3136392"/>
            <a:ext cx="101498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PHASE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40280" y="313639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User platform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108960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Authentication, patient profiles, history and secure storage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65960" y="3374136"/>
            <a:ext cx="228600" cy="0"/>
          </a:xfrm>
          <a:prstGeom prst="line">
            <a:avLst/>
          </a:prstGeom>
          <a:ln w="31750">
            <a:solidFill>
              <a:srgbClr val="A1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685800" y="4023360"/>
            <a:ext cx="1234440" cy="621792"/>
          </a:xfrm>
          <a:prstGeom prst="roundRect">
            <a:avLst/>
          </a:prstGeom>
          <a:solidFill>
            <a:srgbClr val="192A46"/>
          </a:solidFill>
          <a:ln>
            <a:solidFill>
              <a:srgbClr val="FFB2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5528" y="4096512"/>
            <a:ext cx="101498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PHASE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09651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Clinical 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069080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Explainability, confidence presentation, clinician review workflow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965960" y="4334256"/>
            <a:ext cx="228600" cy="0"/>
          </a:xfrm>
          <a:prstGeom prst="line">
            <a:avLst/>
          </a:prstGeom>
          <a:ln w="31750">
            <a:solidFill>
              <a:srgbClr val="FFB24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85800" y="4983480"/>
            <a:ext cx="1234440" cy="621792"/>
          </a:xfrm>
          <a:prstGeom prst="roundRect">
            <a:avLst/>
          </a:prstGeom>
          <a:solidFill>
            <a:srgbClr val="192A46"/>
          </a:solidFill>
          <a:ln>
            <a:solidFill>
              <a:srgbClr val="FF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95528" y="5056632"/>
            <a:ext cx="1014984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F5F8FC"/>
                </a:solidFill>
                <a:latin typeface="Aptos"/>
              </a:rPr>
              <a:t>PHASE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505663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8FC"/>
                </a:solidFill>
                <a:latin typeface="Aptos"/>
              </a:rPr>
              <a:t>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029200"/>
            <a:ext cx="6400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EBED3"/>
                </a:solidFill>
                <a:latin typeface="Aptos"/>
              </a:rPr>
              <a:t>Containerization, monitoring, logging and scalable serving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965960" y="5294376"/>
            <a:ext cx="228600" cy="0"/>
          </a:xfrm>
          <a:prstGeom prst="line">
            <a:avLst/>
          </a:prstGeom>
          <a:ln w="31750">
            <a:solidFill>
              <a:srgbClr val="FF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MULTIPLE DISEASE PREDICTION SYSTEM  •  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6510528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BED3"/>
                </a:solidFill>
                <a:latin typeface="Aptos"/>
              </a:rPr>
              <a:t>ML • Streamlit • Decision Support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200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F5F8FC"/>
                </a:solidFill>
                <a:latin typeface="Aptos"/>
              </a:rPr>
              <a:t>18. References &amp; Source Basis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234440"/>
            <a:ext cx="10972800" cy="4526280"/>
          </a:xfrm>
          <a:prstGeom prst="roundRect">
            <a:avLst/>
          </a:prstGeom>
          <a:solidFill>
            <a:srgbClr val="142037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10149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1. Uploaded project source: app.py — Multiple Disease Prediction System.</a:t>
            </a:r>
          </a:p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2. Streamlit documentation — application development and execution concepts.</a:t>
            </a:r>
          </a:p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3. Python documentation — core language/runtime reference.</a:t>
            </a:r>
          </a:p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4. Model artifacts referenced by app.py: diabetes_model.sav, heart_disease_model.sav, parkinsons_model.sav.</a:t>
            </a:r>
          </a:p>
          <a:p>
            <a:pPr>
              <a:spcAft>
                <a:spcPts val="900"/>
              </a:spcAft>
              <a:defRPr sz="1500">
                <a:solidFill>
                  <a:srgbClr val="F5F8FC"/>
                </a:solidFill>
                <a:latin typeface="Aptos"/>
              </a:defRPr>
            </a:pPr>
            <a:r>
              <a:t>• 5. Project setup/dependency work completed in the Python 3.12 virtual environment.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5074920"/>
            <a:ext cx="101498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1">
                <a:solidFill>
                  <a:srgbClr val="FFB24C"/>
                </a:solidFill>
                <a:latin typeface="Aptos"/>
              </a:rPr>
              <a:t>Note: Model training algorithm, dataset, accuracy and validation statistics are intentionally not invented because they are not exposed by the provided app.py source.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AEBED3"/>
                </a:solidFill>
                <a:latin typeface="Aptos"/>
              </a:rPr>
              <a:t>MULTIPLE DISEASE PREDICTION SYSTEM  • 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0" y="6510528"/>
            <a:ext cx="3154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800" b="0">
                <a:solidFill>
                  <a:srgbClr val="AEBED3"/>
                </a:solidFill>
                <a:latin typeface="Aptos"/>
              </a:rPr>
              <a:t>ML • Streamlit • Decision Support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2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234440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>
                <a:solidFill>
                  <a:srgbClr val="F5F8FC"/>
                </a:solidFill>
                <a:latin typeface="Aptos"/>
              </a:rPr>
              <a:t>MULTIPLE DISEASE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74519"/>
            <a:ext cx="731520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40C9FF"/>
                </a:solidFill>
                <a:latin typeface="Aptos"/>
              </a:rPr>
              <a:t>PREDICTION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788920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>
                <a:solidFill>
                  <a:srgbClr val="AEBED3"/>
                </a:solidFill>
                <a:latin typeface="Aptos"/>
              </a:rPr>
              <a:t>From user input → ML inference → understandable prediction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955279" y="1234440"/>
            <a:ext cx="1828800" cy="640080"/>
          </a:xfrm>
          <a:prstGeom prst="roundRect">
            <a:avLst/>
          </a:prstGeom>
          <a:solidFill>
            <a:srgbClr val="192A46"/>
          </a:solidFill>
          <a:ln>
            <a:solidFill>
              <a:srgbClr val="40C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65007" y="1307592"/>
            <a:ext cx="1609344" cy="493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DIABETES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2240280"/>
            <a:ext cx="1828800" cy="640080"/>
          </a:xfrm>
          <a:prstGeom prst="roundRect">
            <a:avLst/>
          </a:prstGeom>
          <a:solidFill>
            <a:srgbClr val="192A46"/>
          </a:solidFill>
          <a:ln>
            <a:solidFill>
              <a:srgbClr val="FF6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65007" y="2313432"/>
            <a:ext cx="1609344" cy="493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HEART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55279" y="3246120"/>
            <a:ext cx="1828800" cy="640080"/>
          </a:xfrm>
          <a:prstGeom prst="roundRect">
            <a:avLst/>
          </a:prstGeom>
          <a:solidFill>
            <a:srgbClr val="192A46"/>
          </a:solidFill>
          <a:ln>
            <a:solidFill>
              <a:srgbClr val="A17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65007" y="3319272"/>
            <a:ext cx="1609344" cy="49377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PARKINSON’S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4572000"/>
            <a:ext cx="2743200" cy="822960"/>
          </a:xfrm>
          <a:prstGeom prst="roundRect">
            <a:avLst/>
          </a:prstGeom>
          <a:solidFill>
            <a:srgbClr val="192A46"/>
          </a:solidFill>
          <a:ln>
            <a:solidFill>
              <a:srgbClr val="4CD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07807" y="4645152"/>
            <a:ext cx="2523744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5F8FC"/>
                </a:solidFill>
                <a:latin typeface="Aptos"/>
              </a:rPr>
              <a:t>UNIFIED ML
INTERFACE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869680" y="1874519"/>
            <a:ext cx="0" cy="2697481"/>
          </a:xfrm>
          <a:prstGeom prst="line">
            <a:avLst/>
          </a:prstGeom>
          <a:ln w="31750">
            <a:solidFill>
              <a:srgbClr val="40C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8869680" y="2880360"/>
            <a:ext cx="0" cy="1691640"/>
          </a:xfrm>
          <a:prstGeom prst="line">
            <a:avLst/>
          </a:prstGeom>
          <a:ln w="31750">
            <a:solidFill>
              <a:srgbClr val="FF68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8869680" y="3886200"/>
            <a:ext cx="0" cy="685800"/>
          </a:xfrm>
          <a:prstGeom prst="line">
            <a:avLst/>
          </a:prstGeom>
          <a:ln w="31750">
            <a:solidFill>
              <a:srgbClr val="A17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5166360"/>
            <a:ext cx="4572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>
                <a:solidFill>
                  <a:srgbClr val="4CDC9A"/>
                </a:solidFill>
                <a:latin typeface="Aptos"/>
              </a:rP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715000"/>
            <a:ext cx="4114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>
                <a:solidFill>
                  <a:srgbClr val="F5F8FC"/>
                </a:solidFill>
                <a:latin typeface="Apto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1624</Words>
  <Application>Microsoft Office PowerPoint</Application>
  <PresentationFormat>Widescreen</PresentationFormat>
  <Paragraphs>326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Vansh Siddhu</dc:creator>
  <cp:keywords/>
  <dc:description>generated using python-pptx</dc:description>
  <cp:lastModifiedBy>Vansh Siddhu</cp:lastModifiedBy>
  <cp:revision>5</cp:revision>
  <dcterms:created xsi:type="dcterms:W3CDTF">2013-01-27T09:14:16Z</dcterms:created>
  <dcterms:modified xsi:type="dcterms:W3CDTF">2026-09-15T06:35:22Z</dcterms:modified>
  <cp:category/>
</cp:coreProperties>
</file>